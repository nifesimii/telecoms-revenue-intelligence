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509290cfc453e" /><Relationship Type="http://schemas.openxmlformats.org/officeDocument/2006/relationships/extended-properties" Target="/docProps/app.xml" Id="R48c92f9288ba4d42" /><Relationship Type="http://schemas.openxmlformats.org/officeDocument/2006/relationships/officeDocument" Target="/ppt/presentation.xml" Id="Rb9ac53cd350d4b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9aae6de7f4670"/>
  </p:sldMasterIdLst>
  <p:notesMasterIdLst>
    <p:notesMasterId xmlns:r="http://schemas.openxmlformats.org/officeDocument/2006/relationships" r:id="R4c0f4fa273034548"/>
  </p:notesMasterIdLst>
  <p:sldIdLst>
    <p:sldId xmlns:r="http://schemas.openxmlformats.org/officeDocument/2006/relationships" id="256" r:id="R0d02518fa15f49b3"/>
    <p:sldId xmlns:r="http://schemas.openxmlformats.org/officeDocument/2006/relationships" id="257" r:id="R66657194a6814eb5"/>
    <p:sldId xmlns:r="http://schemas.openxmlformats.org/officeDocument/2006/relationships" id="258" r:id="R03c3084239ba479f"/>
    <p:sldId xmlns:r="http://schemas.openxmlformats.org/officeDocument/2006/relationships" id="259" r:id="R66e5e9d3e9c8494d"/>
    <p:sldId xmlns:r="http://schemas.openxmlformats.org/officeDocument/2006/relationships" id="260" r:id="R8d0883232d4c439b"/>
    <p:sldId xmlns:r="http://schemas.openxmlformats.org/officeDocument/2006/relationships" id="261" r:id="Rd8360853c15e4ebc"/>
    <p:sldId xmlns:r="http://schemas.openxmlformats.org/officeDocument/2006/relationships" id="262" r:id="R2c1ee859b1cc41f6"/>
    <p:sldId xmlns:r="http://schemas.openxmlformats.org/officeDocument/2006/relationships" id="263" r:id="R162db28d525b4743"/>
    <p:sldId xmlns:r="http://schemas.openxmlformats.org/officeDocument/2006/relationships" id="264" r:id="Rcfee97e54a26402d"/>
    <p:sldId xmlns:r="http://schemas.openxmlformats.org/officeDocument/2006/relationships" id="265" r:id="Rb68a5f2970674552"/>
    <p:sldId xmlns:r="http://schemas.openxmlformats.org/officeDocument/2006/relationships" id="266" r:id="Rb66be1b2934e49c9"/>
    <p:sldId xmlns:r="http://schemas.openxmlformats.org/officeDocument/2006/relationships" id="267" r:id="Rd720570cffc542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20e0d1284441f6" /><Relationship Type="http://schemas.openxmlformats.org/officeDocument/2006/relationships/slideMaster" Target="/ppt/slideMasters/slideMaster1.xml" Id="R2979aae6de7f4670" /><Relationship Type="http://schemas.openxmlformats.org/officeDocument/2006/relationships/notesMaster" Target="/ppt/notesMasters/notesMaster1.xml" Id="R4c0f4fa273034548" /><Relationship Type="http://schemas.openxmlformats.org/officeDocument/2006/relationships/presProps" Target="/ppt/presProps.xml" Id="Rf9b65f28d78a455b" /><Relationship Type="http://schemas.openxmlformats.org/officeDocument/2006/relationships/tableStyles" Target="/ppt/tableStyles.xml" Id="R6c3fc31acc9b46a2" /><Relationship Type="http://schemas.openxmlformats.org/officeDocument/2006/relationships/slide" Target="/ppt/slides/slide1.xml" Id="R0d02518fa15f49b3" /><Relationship Type="http://schemas.openxmlformats.org/officeDocument/2006/relationships/slide" Target="/ppt/slides/slide2.xml" Id="R66657194a6814eb5" /><Relationship Type="http://schemas.openxmlformats.org/officeDocument/2006/relationships/slide" Target="/ppt/slides/slide3.xml" Id="R03c3084239ba479f" /><Relationship Type="http://schemas.openxmlformats.org/officeDocument/2006/relationships/slide" Target="/ppt/slides/slide4.xml" Id="R66e5e9d3e9c8494d" /><Relationship Type="http://schemas.openxmlformats.org/officeDocument/2006/relationships/slide" Target="/ppt/slides/slide5.xml" Id="R8d0883232d4c439b" /><Relationship Type="http://schemas.openxmlformats.org/officeDocument/2006/relationships/slide" Target="/ppt/slides/slide6.xml" Id="Rd8360853c15e4ebc" /><Relationship Type="http://schemas.openxmlformats.org/officeDocument/2006/relationships/slide" Target="/ppt/slides/slide7.xml" Id="R2c1ee859b1cc41f6" /><Relationship Type="http://schemas.openxmlformats.org/officeDocument/2006/relationships/slide" Target="/ppt/slides/slide8.xml" Id="R162db28d525b4743" /><Relationship Type="http://schemas.openxmlformats.org/officeDocument/2006/relationships/slide" Target="/ppt/slides/slide9.xml" Id="Rcfee97e54a26402d" /><Relationship Type="http://schemas.openxmlformats.org/officeDocument/2006/relationships/slide" Target="/ppt/slides/slide10.xml" Id="Rb68a5f2970674552" /><Relationship Type="http://schemas.openxmlformats.org/officeDocument/2006/relationships/slide" Target="/ppt/slides/slide11.xml" Id="Rb66be1b2934e49c9" /><Relationship Type="http://schemas.openxmlformats.org/officeDocument/2006/relationships/slide" Target="/ppt/slides/slide12.xml" Id="Rd720570cffc5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2b256ffaa4f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32597516ed4027" /><Relationship Type="http://schemas.openxmlformats.org/officeDocument/2006/relationships/notesMaster" Target="/ppt/notesMasters/notesMaster1.xml" Id="R54f6a4add7fb44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d0aec7b67b4568" /><Relationship Type="http://schemas.openxmlformats.org/officeDocument/2006/relationships/notesMaster" Target="/ppt/notesMasters/notesMaster1.xml" Id="Rd991c8665a7246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d21e3bab5f41ed" /><Relationship Type="http://schemas.openxmlformats.org/officeDocument/2006/relationships/notesMaster" Target="/ppt/notesMasters/notesMaster1.xml" Id="R1430c2392cb84d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559c6e9a584c26" /><Relationship Type="http://schemas.openxmlformats.org/officeDocument/2006/relationships/notesMaster" Target="/ppt/notesMasters/notesMaster1.xml" Id="Rbd779b492b6c48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770737faf4102" /><Relationship Type="http://schemas.openxmlformats.org/officeDocument/2006/relationships/notesMaster" Target="/ppt/notesMasters/notesMaster1.xml" Id="R62b621c77cca40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8f7141b7c54e88" /><Relationship Type="http://schemas.openxmlformats.org/officeDocument/2006/relationships/notesMaster" Target="/ppt/notesMasters/notesMaster1.xml" Id="R36df68f93b594b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f925b9d6f4a5d" /><Relationship Type="http://schemas.openxmlformats.org/officeDocument/2006/relationships/notesMaster" Target="/ppt/notesMasters/notesMaster1.xml" Id="R88c33da5be9f47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3068c926ec446c" /><Relationship Type="http://schemas.openxmlformats.org/officeDocument/2006/relationships/notesMaster" Target="/ppt/notesMasters/notesMaster1.xml" Id="Rd766ee31add545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e092d6c1984735" /><Relationship Type="http://schemas.openxmlformats.org/officeDocument/2006/relationships/notesMaster" Target="/ppt/notesMasters/notesMaster1.xml" Id="Rbc0785f6820346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81e52bfd1d4979" /><Relationship Type="http://schemas.openxmlformats.org/officeDocument/2006/relationships/notesMaster" Target="/ppt/notesMasters/notesMaster1.xml" Id="R5d7d132aff0348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6555e87d5946bd" /><Relationship Type="http://schemas.openxmlformats.org/officeDocument/2006/relationships/notesMaster" Target="/ppt/notesMasters/notesMaster1.xml" Id="Rcf2a3428dbe243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4ad4916e5b45fa" /><Relationship Type="http://schemas.openxmlformats.org/officeDocument/2006/relationships/notesMaster" Target="/ppt/notesMasters/notesMaster1.xml" Id="R88255459f304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decision: this is not another reporting dashboard. It is a finance investigation workflow that links what we owe, what was paid, why a variance exists, and the evidence behind the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up the pain before the product tour. Emphasize auditability and dispute turnaround—not only analytics.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architecture in business language. The platform validates existing calculations; it does not replace the commission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start here. Point out the synthetic badge, Current Position, exceptions deep-link, audit coverage, and dealers appearing across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show Summary, Variance, and Exceptions. Search for one dealer and export the current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search Hynex to show the known SKU alias pattern. Expand Verify on a mismatch. Mention ServiceNow-ready data-coverage ticket drafting.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Payment Intelligence → All Payments → Statement. Walk owed, settled, variance, position, linked trails, and export options. Then return to Exceptions and open a dispute draft.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 only if the Anthropic key is healthy. Use a templated Ask Claude action from Overview or a row. Multi-tool responses may take 20–30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Trails requires Postgres. In the local session Docker was not running, so use the hosted preview or start Docker before presenting. Pick Payment Reconciliation for the clearest business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sequence as the live-demo spine. Aim for 6–8 minutes, then use the deck for architecture, readiness, and the approval 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boundary plainly: native Presto/Postgres pagination and real MTN data connections are follow-up work after production access and query plans are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specific approval request. Ask for a controlled pilot—not blanket production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PROGRESS.md, ARCHITECTURE.md, docs/GM_DEMO.md</a:t>
            </a:r>
          </a:p>
          <a:p xmlns:a="http://schemas.openxmlformats.org/drawingml/2006/main">
            <a:r>
              <a:t>- Product screenshots captured from localhost in sample-data mode on 2026-09-08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d614fbbc942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7379c52d6b4c69" /><Relationship Type="http://schemas.openxmlformats.org/officeDocument/2006/relationships/slideLayout" Target="/ppt/slideLayouts/slideLayout1.xml" Id="R77441d64f12f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441d64f12f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6cd5fd20849b7" /><Relationship Type="http://schemas.openxmlformats.org/officeDocument/2006/relationships/notesSlide" Target="/ppt/notesSlides/notesSlide1.xml" Id="Rca56df8356ba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6770547724c70" /><Relationship Type="http://schemas.openxmlformats.org/officeDocument/2006/relationships/notesSlide" Target="/ppt/notesSlides/notesSlide2.xml" Id="Rdab4f7a24bf2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a9fae2e642a5" /><Relationship Type="http://schemas.openxmlformats.org/officeDocument/2006/relationships/notesSlide" Target="/ppt/notesSlides/notesSlide3.xml" Id="R2b6883b2aff742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f9d5b4ea947f1" /><Relationship Type="http://schemas.openxmlformats.org/officeDocument/2006/relationships/image" Target="/ppt/media/image.jpeg" Id="R20504c9c788b4d0f" /><Relationship Type="http://schemas.openxmlformats.org/officeDocument/2006/relationships/notesSlide" Target="/ppt/notesSlides/notesSlide4.xml" Id="R858be6a65c4b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e4a400cbc4758" /><Relationship Type="http://schemas.openxmlformats.org/officeDocument/2006/relationships/image" Target="/ppt/media/image2.jpeg" Id="Rcd2f30f696e141d2" /><Relationship Type="http://schemas.openxmlformats.org/officeDocument/2006/relationships/notesSlide" Target="/ppt/notesSlides/notesSlide5.xml" Id="R083e0604229c49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985e5ad9243b1" /><Relationship Type="http://schemas.openxmlformats.org/officeDocument/2006/relationships/image" Target="/ppt/media/image3.jpeg" Id="Re0ab2aaf880b4dc7" /><Relationship Type="http://schemas.openxmlformats.org/officeDocument/2006/relationships/notesSlide" Target="/ppt/notesSlides/notesSlide6.xml" Id="Rb4f5c55995264a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01c59db9649b2" /><Relationship Type="http://schemas.openxmlformats.org/officeDocument/2006/relationships/image" Target="/ppt/media/image4.jpeg" Id="R61c9ccf9252544d7" /><Relationship Type="http://schemas.openxmlformats.org/officeDocument/2006/relationships/notesSlide" Target="/ppt/notesSlides/notesSlide7.xml" Id="R34942a9d26644b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117b6f4da40cd" /><Relationship Type="http://schemas.openxmlformats.org/officeDocument/2006/relationships/image" Target="/ppt/media/image5.jpeg" Id="R2eeac7f62077413e" /><Relationship Type="http://schemas.openxmlformats.org/officeDocument/2006/relationships/notesSlide" Target="/ppt/notesSlides/notesSlide8.xml" Id="R54c3729e8eeb4c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f1ce2f222469e" /><Relationship Type="http://schemas.openxmlformats.org/officeDocument/2006/relationships/notesSlide" Target="/ppt/notesSlides/notesSlide9.xml" Id="R53ff486e89a7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7d09caca04ec7" /><Relationship Type="http://schemas.openxmlformats.org/officeDocument/2006/relationships/notesSlide" Target="/ppt/notesSlides/notesSlide10.xml" Id="R7b9510563c6547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db676095c4b01" /><Relationship Type="http://schemas.openxmlformats.org/officeDocument/2006/relationships/notesSlide" Target="/ppt/notesSlides/notesSlide11.xml" Id="R222e9f2c131648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8cda002cb496c" /><Relationship Type="http://schemas.openxmlformats.org/officeDocument/2006/relationships/notesSlide" Target="/ppt/notesSlides/notesSlide12.xml" Id="Rf30a36525862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1DE98-772B-4314-9A6E-D0B673C3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E68A8-DD39-41B3-9175-C9FF8BF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EXECUTIVE PRODUCT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766CA-1D41-469C-9459-A554F3EE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41414"/>
                </a:solidFill>
              </a:defRPr>
            </a:pPr>
            <a:r>
              <a:rPr sz="4650" b="1">
                <a:solidFill>
                  <a:srgbClr val="141414"/>
                </a:solidFill>
              </a:rPr>
              <a:t>FBB Trade Partner</a:t>
            </a:r>
          </a:p>
          <a:p xmlns:a="http://schemas.openxmlformats.org/drawingml/2006/main">
            <a:pPr algn="l">
              <a:defRPr sz="4650" b="1">
                <a:solidFill>
                  <a:srgbClr val="141414"/>
                </a:solidFill>
              </a:defRPr>
            </a:pPr>
            <a:r>
              <a:rPr sz="4650" b="1">
                <a:solidFill>
                  <a:srgbClr val="141414"/>
                </a:solidFill>
              </a:rPr>
              <a:t>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3397D-7842-47B7-9768-0754B5D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</a:defRPr>
            </a:pPr>
            <a:r>
              <a:rPr sz="1875" b="0">
                <a:solidFill>
                  <a:srgbClr val="5F6368"/>
                </a:solidFill>
              </a:rPr>
              <a:t>From commission questions to evidence-backed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7E015-7C63-4421-AA6C-CCA94B7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E25DA-8051-4EBA-B298-31C743B9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PRODUCT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48059-6F38-42B2-A5FF-16550211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Finance · Revenue Assurance · FBB Operations</a:t>
            </a:r>
          </a:p>
        </p:txBody>
      </p:sp>
    </p:spTree>
    <p:extLst>
      <p:ext uri="{BB962C8B-B14F-4D97-AF65-F5344CB8AC3E}">
        <p14:creationId xmlns:p14="http://schemas.microsoft.com/office/powerpoint/2010/main" val="755694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A57B3-F54F-482A-9B7E-64B7BF7B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98B78-3D2A-4369-9F82-9F0F4F0E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The cost is not calculating commission—it is proving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98FD3-44BB-4E57-912D-892018D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DD720-DF8F-4DA5-A36C-118D495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Finance teams can see numbers. The hard part is answering the next question with confidence: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82692-8B38-4B34-BDF7-1ED4B582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What do we owe?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8C640-6EF9-41AC-866C-851E7D3D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</a:defRPr>
            </a:pPr>
            <a:r>
              <a:rPr sz="1425" b="0">
                <a:solidFill>
                  <a:srgbClr val="5F6368"/>
                </a:solidFill>
              </a:rPr>
              <a:t>Ranked dealer totals and denomination-level commission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A2AE5-41D9-4F28-8D67-20B86B7D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Why did it change?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96D80-50BA-4968-B3C0-981A8222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</a:defRPr>
            </a:pPr>
            <a:r>
              <a:rPr sz="1425" b="0">
                <a:solidFill>
                  <a:srgbClr val="5F6368"/>
                </a:solidFill>
              </a:rPr>
              <a:t>Month-on-month movements explained against the documented business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5A605-C5D7-4499-85CA-92B5C01C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Why was it zero?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58ED7-E3FA-49D6-8E52-4831228C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29075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</a:defRPr>
            </a:pPr>
            <a:r>
              <a:rPr sz="1425" b="0">
                <a:solidFill>
                  <a:srgbClr val="5F6368"/>
                </a:solidFill>
              </a:rPr>
              <a:t>Root-cause classification restricted to four approved causes—no speculation.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90B06-8962-46EA-A6E9-17049182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Was it settled correctly?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6A24D-4717-457F-8A6B-DAE73FCA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</a:defRPr>
            </a:pPr>
            <a:r>
              <a:rPr sz="1425" b="0">
                <a:solidFill>
                  <a:srgbClr val="5F6368"/>
                </a:solidFill>
              </a:rPr>
              <a:t>Owed, paid, outstanding, disputes, and audit evidence in one investigation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8BF81-DD21-4C6D-B0E4-6266453B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61160-156A-441C-B3E3-DA434871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1013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51733-B468-4A26-BCC5-5ABB8159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WHAT WE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E8781-1367-4D94-AEF9-9F3B5110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One workflow now connects entitlement, settlement, and 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E95B8-F6E6-4D9C-86F1-93D46AC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E51E9-6390-420F-AF0D-9D484771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40F9F-EEA2-452C-920B-90B9D7B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436FD-18EE-4CE2-AB74-995E062B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Entitlement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95721-FDC0-462C-8E50-4C64223C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Commission + ORSC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33E16-E73B-4F7B-AFAC-667C84C8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90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9A4C-30E3-4B13-8188-4C362F7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348F9-FCA8-4428-AC1B-E27C6394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289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Qualification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0AD5A-FCE9-411D-90D6-59B93F3B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147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Activation eligibility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214E6-2823-4334-AE4F-6D1F3A42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41B26-D5AD-4321-B399-6F0E0C4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3C07B-EB5A-4505-8AFB-0066FB98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289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86A6C-AAA9-46E5-A6AE-2574655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Purchases vs activations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3875E-3898-4AFD-B5BC-6E95A33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9075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11842-0C4F-475D-8CB0-80DC719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47D57-82D4-4437-A204-2E61B637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28925"/>
            <a:ext cx="1657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Settlement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B0562-8FDE-40DE-9C45-6F07395A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147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Paid vs owed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C56E3-CA5B-4596-9BA8-0EEC3AD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156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C2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49529-5CB0-4047-BAA7-95A0DE33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4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53B6B-387E-4E62-A2E5-3F0D701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28925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532CE-EB37-40BE-B76E-1C347B9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147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6-step audit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2D7A8-0E3F-43E3-B0E5-9704052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414"/>
                </a:solidFill>
              </a:defRPr>
            </a:pPr>
            <a:r>
              <a:rPr sz="2025" b="1">
                <a:solidFill>
                  <a:srgbClr val="141414"/>
                </a:solidFill>
              </a:rPr>
              <a:t>The same dealer-period can be followed end to end—without dynamic SQL or production write-back.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C7C7A-C01B-4100-860C-DCCBE24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Read-only data access · parameterized queries · documented rule boundaries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1F832-E7DB-48F5-965C-2CF95D8D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E6E45-2C2E-4037-BE42-55200D1F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29074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1C8DD-A949-4C2A-BA86-92CE49E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CONTROL TOWER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E7165-33EF-4887-91A4-412B735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The overview turns a reporting month into a prioritized action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F28B0-B4CF-422B-BADA-70A682FB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04c9c788b4d0f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7524750" cy="4229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EA083-6E3D-42C5-9C63-E4F1291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MARCH 2026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F3530-83B4-4745-BF1E-17AA359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414"/>
                </a:solidFill>
              </a:defRPr>
            </a:pPr>
            <a:r>
              <a:rPr sz="2700" b="1">
                <a:solidFill>
                  <a:srgbClr val="141414"/>
                </a:solidFill>
              </a:rPr>
              <a:t>NGN 47.64m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C20A6-1149-45C0-828E-A5F41677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commission owed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5B815-8F0A-4558-A17C-6B50A18C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242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51D24"/>
                </a:solidFill>
              </a:defRPr>
            </a:pPr>
            <a:r>
              <a:rPr sz="2700" b="1">
                <a:solidFill>
                  <a:srgbClr val="A51D24"/>
                </a:solidFill>
              </a:rPr>
              <a:t>NGN 7.11m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134EC-772E-40C4-86D4-9621408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95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outstanding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7E370-A8C2-498C-BEAB-7FB64776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414"/>
                </a:solidFill>
              </a:defRPr>
            </a:pPr>
            <a:r>
              <a:rPr sz="2700" b="1">
                <a:solidFill>
                  <a:srgbClr val="141414"/>
                </a:solidFill>
              </a:rPr>
              <a:t>35 dealers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CDCFF-84DA-4F3A-B86D-39B9E40F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flagged across multiple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2172E-6BDF-4883-AFDA-74B21F04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62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Every headline links to the investigation surface that owns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635B5-DC1A-40D7-8CEA-7E304D60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954E8-EC3F-4E59-93B0-024C2F97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94663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4E5AB-7F6A-4E3F-B748-E5802C5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ACTIVATION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FF3B5-78E5-40D1-925E-91366D7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Activation intelligence explains both volume and qualification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51EE0-96FD-4FE1-922C-5E442E1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f30f696e141d2"/>
          <a:srcRect xmlns:a="http://schemas.openxmlformats.org/drawingml/2006/main" l="0" t="2318" r="0" b="2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191375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E8081-2DF6-40D8-9DFF-AB8505EE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FEB44-F825-4197-8630-1BD0764E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Qualified vs unqualified, rates, and expected commission.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3850C-1A87-4ABB-9028-FA89DBC6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Variance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0422F-3F3D-4AD6-A029-CAB643C6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194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Period-over-period movement by dealer for targeted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EF47C-389F-4377-A145-A3D45E9F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81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Exceptions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68C05-C64F-4CB2-980C-867573D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All-unqualified, low-rate, zero-commission, and material drops.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9F7FC-00D9-4DB1-8C50-9C4CF702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29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</a:defRPr>
            </a:pPr>
            <a:r>
              <a:rPr sz="1275" b="1">
                <a:solidFill>
                  <a:srgbClr val="141414"/>
                </a:solidFill>
              </a:rPr>
              <a:t>Search persists across tabs; export matches the visible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219A4-CF17-469D-8CD8-BAC9641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85C8F-B18F-4E67-AEFB-EBC1A0BA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7994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61985-D7FB-4234-A25C-8EAEBF7C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INVENTORY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47461-CC30-4AEC-A8E2-E894CC15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Inventory checks distinguish leakage risk from missing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7A3E7-D39B-46BD-9A5B-C7A5792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b2aaf880b4dc7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1752600"/>
            <a:ext cx="723900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9B921-85DA-4247-BA53-E7BB879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Three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F7523-9B7B-4F87-97C6-13A5BFAE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51D24"/>
                </a:solidFill>
              </a:defRPr>
            </a:pPr>
            <a:r>
              <a:rPr sz="1650" b="1">
                <a:solidFill>
                  <a:srgbClr val="A51D24"/>
                </a:solidFill>
              </a:rPr>
              <a:t>Confirmed mismatch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0DEA4-0B83-490E-AB9A-4439223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Activations exceed invoiced purchases after supported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71F77-60AD-446E-B757-2EAC2D6D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No invoice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39EC0-DB48-4472-A6C7-D645304D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A data-coverage gap—not automatically a mismatch.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86812-CB8B-4CFF-8137-FC821A8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7A4A"/>
                </a:solidFill>
              </a:defRPr>
            </a:pPr>
            <a:r>
              <a:rPr sz="1650" b="1">
                <a:solidFill>
                  <a:srgbClr val="137A4A"/>
                </a:solidFill>
              </a:rPr>
              <a:t>Within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79630-68F6-416A-90DF-C722F6D2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Available purchase evidence supports the activation volume.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DB004-A2CF-4F2B-97C7-1264D997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Server-owned search, filtering, sorting, totals, and pagination keep the table bounded.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096C3-65E7-41DF-AE4A-B7F410E7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A5546-AC92-4520-A9F5-40365BC0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35026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54C06-81A2-4D02-8E2F-378634B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SETTLEMENT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80688-C2F6-4D96-B3F4-51BFA2E5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Payment intelligence closes the loop from owed to settled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4C861-332F-4835-A5C7-B27B9BB0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9ccf9252544d7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723900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24B9B-8259-4CBA-808E-4AE8A769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One bounded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F98C6-26A3-4F4B-A5E5-FADBD6A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Exceptions and All Payments are filtered views of the same source—avoiding duplicate reads and hidden rendering.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9125A-E690-4016-B004-9E64122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Dealer statement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3AF7B-2BC3-4573-A5F0-EF6E4DCB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Combines commission entitlement, payment settlement, ORSC context, position, and linked audit trails.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79ECD-6F0B-4D71-8F8F-7314EC20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054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</a:defRPr>
            </a:pPr>
            <a:r>
              <a:rPr sz="1275" b="1">
                <a:solidFill>
                  <a:srgbClr val="141414"/>
                </a:solidFill>
              </a:rPr>
              <a:t>Exports: Markdown · CSV · XLSX · XLSB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4AC89-C1A3-4AD2-9991-BF158E10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D8992-0964-4F4F-9358-18DF3FE3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24210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64FEC-5B68-47F4-95E2-A2EB36B9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COMMISSION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96197-A05A-4A02-A47E-FB1B685B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The finance assistant turns a finding into a grounded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7E0E6-0BEC-4C02-A828-09E46D46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ac7f62077413e"/>
          <a:srcRect xmlns:a="http://schemas.openxmlformats.org/drawingml/2006/main" l="5447" t="0" r="5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752600"/>
            <a:ext cx="645795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6082A-BCE1-4DB9-807B-21F788F9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414"/>
                </a:solidFill>
              </a:defRPr>
            </a:pPr>
            <a:r>
              <a:rPr sz="1875" b="1">
                <a:solidFill>
                  <a:srgbClr val="141414"/>
                </a:solidFill>
              </a:rPr>
              <a:t>Ask in business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1ADA-B173-4078-A761-582C4162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“Summarise dealer commissions for March”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9CB31-4E1C-406F-8E7C-A8F3FAEB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1D24"/>
                </a:solidFill>
              </a:defRPr>
            </a:pPr>
            <a:r>
              <a:rPr sz="1350" b="1">
                <a:solidFill>
                  <a:srgbClr val="A51D24"/>
                </a:solidFill>
              </a:rPr>
              <a:t>“Why did this dealer change vs February?”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90E35-285F-4CB4-853A-B129301A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“Classify the zero-commission records”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F08DF-B887-4315-A9F3-0547B438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“Show the ORSC summary for the period”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731D9-3E2E-4297-93DF-F0EB10DD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47D8C-7EA1-4654-B814-5D67F25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Answers identify the tools called and stay inside the knowledge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96B34-4DD9-4E71-98DD-953C0B2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00B72-6434-4E61-8997-49E84E34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15020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749C7-16BE-423B-954C-BC695EA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VERIFICATION CHAINS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8047A-77A3-481E-B41C-521A8139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Four audit modules make conclusions challengeable—not opaque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824EE-0BF2-48EA-A08E-EB28CD64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A087D-C91B-4F07-B9CF-28B61D77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E0C3E-39AC-4BAF-B319-AADE2312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Zero-Commission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79BF8-C6C4-48DD-BE16-6BCFA8A2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</a:defRPr>
            </a:pPr>
            <a:r>
              <a:rPr sz="1275" b="0">
                <a:solidFill>
                  <a:srgbClr val="141414"/>
                </a:solidFill>
              </a:rPr>
              <a:t>Was a partner paid for zero-commission activity?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9380A-3DF1-43B6-8125-76B8B471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PAID · NOT_PAID · INSUFFICIENT_DATA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124E8-74DD-4E18-B702-8EE9DC20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92C17-C13A-419E-BDFE-6C86D203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Inventory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4989B-CD67-43D4-A7AE-65BD83F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</a:defRPr>
            </a:pPr>
            <a:r>
              <a:rPr sz="1275" b="0">
                <a:solidFill>
                  <a:srgbClr val="141414"/>
                </a:solidFill>
              </a:rPr>
              <a:t>Do activations exceed supported purchases?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3294D-B656-488B-A4C2-A78AFA31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04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RECONCILED · EXCESS_ACTIVATION · INSUFFICIENT_DATA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24C34-A6AA-4F28-A0FA-E0AE6D6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C2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9E2AB-9720-48F7-8D1E-CA72CF97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Payment Reconciliation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344A8-4B8F-44D1-801F-A825759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</a:defRPr>
            </a:pPr>
            <a:r>
              <a:rPr sz="1275" b="0">
                <a:solidFill>
                  <a:srgbClr val="141414"/>
                </a:solidFill>
              </a:rPr>
              <a:t>Was the partner paid the correct amount?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2ABDC-BF42-4F16-8FBE-5A8E887A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624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PAID_IN_FULL · UNDERPAID · OVERPAID · ROUNDING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DFB83-2542-4D86-BDC0-65FD91F5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BB718-7940-4025-B564-9EF4ED73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414"/>
                </a:solidFill>
              </a:defRPr>
            </a:pPr>
            <a:r>
              <a:rPr sz="1575" b="1">
                <a:solidFill>
                  <a:srgbClr val="141414"/>
                </a:solidFill>
              </a:rPr>
              <a:t>Eligibility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AAF55-31E8-4285-A766-570A3FCA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910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1414"/>
                </a:solidFill>
              </a:defRPr>
            </a:pPr>
            <a:r>
              <a:rPr sz="1275" b="0">
                <a:solidFill>
                  <a:srgbClr val="141414"/>
                </a:solidFill>
              </a:rPr>
              <a:t>Is the six-month rule truly the cause?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0BD9F-D6B2-417B-9DC0-158F5DD4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POLICY_MET · POLICY_VIOLATED · MIXED_ATTRIBUTION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DE294-DADD-4778-AD55-B3A06254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Each persisted chain records what was checked, what was found, step-level caveats, and HIGH / MEDIUM / LOW confidence.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95226-E4A6-4B11-97D1-3C17DB9B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91CBA-3F65-42AB-A100-2D027EC5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8723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AB45E-BA3D-4A11-879A-A6715126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RECOMMENDED LIVE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72ECE-6E1B-4998-A957-FD011BC0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The demo should follow one dealer from signal 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34FC8-16BD-49BC-9571-23B37821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166B3-9BD9-4B59-9949-9B8792E0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414"/>
                </a:solidFill>
              </a:defRPr>
            </a:pPr>
            <a:r>
              <a:rPr sz="2700" b="1">
                <a:solidFill>
                  <a:srgbClr val="141414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37836-C86A-4D1E-889D-7E4BA6D9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301BE-D209-44B0-B582-44A74C7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Start with</a:t>
            </a:r>
          </a:p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Current 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9392A-8622-452E-A425-73F00358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385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368"/>
                </a:solidFill>
              </a:defRPr>
            </a:pPr>
            <a:r>
              <a:rPr sz="21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738BD-CDB9-4138-9017-D3F5F77C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414"/>
                </a:solidFill>
              </a:defRPr>
            </a:pPr>
            <a:r>
              <a:rPr sz="2700" b="1">
                <a:solidFill>
                  <a:srgbClr val="141414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225B1-946E-4E16-87A8-41E8DF9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E2C5C-A4B8-4BD5-B5F0-40E146F5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38475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Open a</a:t>
            </a:r>
          </a:p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payment 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8B9A2-4486-420B-8290-4336BFA1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385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368"/>
                </a:solidFill>
              </a:defRPr>
            </a:pPr>
            <a:r>
              <a:rPr sz="21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D8617-AE47-4CEF-8DF8-5EC0CCEB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414"/>
                </a:solidFill>
              </a:defRPr>
            </a:pPr>
            <a:r>
              <a:rPr sz="2700" b="1">
                <a:solidFill>
                  <a:srgbClr val="141414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BABAD-12BC-4870-A9C8-E8BEFD5B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FBA6A-88F2-402C-867F-863F7A0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38475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Verify the</a:t>
            </a:r>
          </a:p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activation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26E2B-E589-4CC5-A629-4C2566C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385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368"/>
                </a:solidFill>
              </a:defRPr>
            </a:pPr>
            <a:r>
              <a:rPr sz="21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57072-C237-4085-BBCD-3C91863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414"/>
                </a:solidFill>
              </a:defRPr>
            </a:pPr>
            <a:r>
              <a:rPr sz="2700" b="1">
                <a:solidFill>
                  <a:srgbClr val="141414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A9CE6-82EE-46B3-A959-436CA05D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2F68A-B82F-4C87-935F-B276805A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Open the</a:t>
            </a:r>
          </a:p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dealer statement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64C5C-E64C-4B7C-958F-3561C20B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385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368"/>
                </a:solidFill>
              </a:defRPr>
            </a:pPr>
            <a:r>
              <a:rPr sz="21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D75E9-EC4F-453E-BE52-51F9635F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51D24"/>
                </a:solidFill>
              </a:defRPr>
            </a:pPr>
            <a:r>
              <a:rPr sz="2700" b="1">
                <a:solidFill>
                  <a:srgbClr val="A51D24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FB663-5488-41C3-B314-F282B143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C2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6B4CA-323F-49FB-B949-7482FB1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38475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Walk the</a:t>
            </a:r>
          </a:p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audit 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5A90F-4838-48BB-ACA9-44264387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414"/>
                </a:solidFill>
              </a:defRPr>
            </a:pPr>
            <a:r>
              <a:rPr sz="2100" b="1">
                <a:solidFill>
                  <a:srgbClr val="141414"/>
                </a:solidFill>
              </a:rPr>
              <a:t>Close the story with the decision the evidence supports—not with a tour of every tab.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85E8F-D317-477B-B5D9-B623B73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Backup paths: activation exception · Hynex inventory pattern · dispute-response draft · CSV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58E4D-7E67-4F95-83AF-0DE7DA6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ED2E34-ED2D-48D7-9049-467FB09D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79038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E90DF-C83D-4220-B8BF-6B0E111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DELIVERY CONFIDENCE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F289E-DA14-4864-9A49-9FE3924C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414"/>
                </a:solidFill>
              </a:defRPr>
            </a:pPr>
            <a:r>
              <a:rPr sz="3000" b="1">
                <a:solidFill>
                  <a:srgbClr val="141414"/>
                </a:solidFill>
              </a:rPr>
              <a:t>The MVP is demo-ready, bounded, and tested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4AAF1-F452-409F-B938-3CB27727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8F8F3-1E09-4A2F-AF29-D158B84B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7A4A"/>
                </a:solidFill>
              </a:defRPr>
            </a:pPr>
            <a:r>
              <a:rPr sz="3600" b="1">
                <a:solidFill>
                  <a:srgbClr val="137A4A"/>
                </a:solidFill>
              </a:rPr>
              <a:t>215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07A60-7DA5-4F5D-B60C-80EC63C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tests passing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1B224-DD17-4750-AB03-EEFD344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9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</a:defRPr>
            </a:pPr>
            <a:r>
              <a:rPr sz="3600" b="1">
                <a:solidFill>
                  <a:srgbClr val="141414"/>
                </a:solidFill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68E33-772D-49B4-9DA4-672666CE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live tests skipped by 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3509E-3AF1-48DD-81E2-98516887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</a:defRPr>
            </a:pPr>
            <a:r>
              <a:rPr sz="3600" b="1">
                <a:solidFill>
                  <a:srgbClr val="141414"/>
                </a:solidFill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A85BE-00B6-491F-B43A-D1B298D8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maximum rows per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84674-83C7-4D33-9680-3D216E21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9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414"/>
                </a:solidFill>
              </a:defRPr>
            </a:pPr>
            <a:r>
              <a:rPr sz="3600" b="1">
                <a:solidFill>
                  <a:srgbClr val="141414"/>
                </a:solidFill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7F13-F917-4958-A81F-9BB1F070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integrated product surfaces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38F0E-D821-4998-A7CD-CAFFF59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FE2C4-0AFB-4FB0-A4C3-9010B42C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Safe by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77226-E92A-4667-A7FE-9434DDC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</a:defRPr>
            </a:pPr>
            <a:r>
              <a:rPr sz="1425" b="0">
                <a:solidFill>
                  <a:srgbClr val="5F6368"/>
                </a:solidFill>
              </a:rPr>
              <a:t>Read-only development sources, parameterized queries, no write-back, no dynamic 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4034B-FA8B-4D4B-BD19-1BAA014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Honest demo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4B3A0-3A61-4970-82B0-D8C60889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</a:defRPr>
            </a:pPr>
            <a:r>
              <a:rPr sz="1425" b="0">
                <a:solidFill>
                  <a:srgbClr val="5F6368"/>
                </a:solidFill>
              </a:rPr>
              <a:t>Synthetic FBB and simulated payment data are visibly labelled and deterministic.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FCC51-A92A-4F2E-8881-E8FBC58F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414"/>
                </a:solidFill>
              </a:defRPr>
            </a:pPr>
            <a:r>
              <a:rPr sz="1725" b="1">
                <a:solidFill>
                  <a:srgbClr val="141414"/>
                </a:solidFill>
              </a:rPr>
              <a:t>Production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95B13-5553-4590-97FE-A9975DD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57800"/>
            <a:ext cx="638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</a:defRPr>
            </a:pPr>
            <a:r>
              <a:rPr sz="1425" b="0">
                <a:solidFill>
                  <a:srgbClr val="5F6368"/>
                </a:solidFill>
              </a:rPr>
              <a:t>Bounded APIs, server-side filtering, lazy verification evidence, request timing, and query caching.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E7C55-E955-4A11-87A8-C06713C0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FBB TRADE PARTNER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B6766-76BB-40B2-A4E2-5C290F7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368"/>
                </a:solidFill>
              </a:defRPr>
            </a:pPr>
            <a:r>
              <a:rPr sz="825" b="1">
                <a:solidFill>
                  <a:srgbClr val="5F636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2330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479D6-380C-4B29-8524-152D720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8612F-55B3-49DA-83A9-ECDC6A71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8240C-B8B9-47C9-A016-B19EA3C3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Approve the next validation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9A835-4837-49E7-AD8C-1F88A324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DADD"/>
                </a:solidFill>
              </a:defRPr>
            </a:pPr>
            <a:r>
              <a:rPr sz="2025" b="0">
                <a:solidFill>
                  <a:srgbClr val="D8DADD"/>
                </a:solidFill>
              </a:rPr>
              <a:t>Move from a deterministic sample-data demo to a controlled pilot with Finance and Revenue Assurance.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7611C-1A29-4D6A-9300-C30DB89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00"/>
                </a:solidFill>
              </a:defRPr>
            </a:pPr>
            <a:r>
              <a:rPr sz="1350" b="1">
                <a:solidFill>
                  <a:srgbClr val="FFCC0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19873-83B4-43B1-AFA9-ADDEDA7F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Confirm Finance-facing terminology and audit 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CEE5E-45E9-4FCA-B633-C3F0C4E1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00"/>
                </a:solidFill>
              </a:defRPr>
            </a:pPr>
            <a:r>
              <a:rPr sz="1350" b="1">
                <a:solidFill>
                  <a:srgbClr val="FFCC00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A38E5-C599-4289-B2C5-3C1133EB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Select the first real data integration and pilot period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15C6B-4255-4BCC-9D62-B255868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00"/>
                </a:solidFill>
              </a:defRPr>
            </a:pPr>
            <a:r>
              <a:rPr sz="1350" b="1">
                <a:solidFill>
                  <a:srgbClr val="FFCC00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8CD99-9F25-4ECE-AC13-7F6AF43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Nominate users to validate dispute and dealer-statement 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0247E-0A0D-470D-B4DC-A5E91EDF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ADD"/>
                </a:solidFill>
              </a:defRPr>
            </a:pPr>
            <a:r>
              <a:rPr sz="1350" b="0">
                <a:solidFill>
                  <a:srgbClr val="D8DADD"/>
                </a:solidFill>
              </a:rPr>
              <a:t>The platform already demonstrates the control model. Approval unlocks validation on governed real data.</a:t>
            </a:r>
          </a:p>
        </p:txBody>
      </p:sp>
    </p:spTree>
    <p:extLst>
      <p:ext uri="{BB962C8B-B14F-4D97-AF65-F5344CB8AC3E}">
        <p14:creationId xmlns:p14="http://schemas.microsoft.com/office/powerpoint/2010/main" val="24720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2026-09-08T14:05:18.1290000Z</dcterms:created>
  <dcterms:modified xsi:type="dcterms:W3CDTF">2026-09-08T14:05:18.1290000Z</dcterms:modified>
</coreProperties>
</file>